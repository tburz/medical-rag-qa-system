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76000" y="1124640"/>
            <a:ext cx="11036520" cy="3172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n-US" sz="80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80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title style</a:t>
            </a:r>
            <a:endParaRPr lang="en-US" sz="80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5760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8696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618920-2BD3-42A0-9C01-1115A46364F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Rectangle 7"/>
          <p:cNvSpPr/>
          <p:nvPr/>
        </p:nvSpPr>
        <p:spPr>
          <a:xfrm rot="5400000">
            <a:off x="857880" y="346320"/>
            <a:ext cx="145800" cy="70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Rectangle 9"/>
          <p:cNvSpPr/>
          <p:nvPr/>
        </p:nvSpPr>
        <p:spPr>
          <a:xfrm flipV="1">
            <a:off x="578520" y="4500720"/>
            <a:ext cx="11034360" cy="18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  <a:lvl2pPr lvl="1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2pPr>
            <a:lvl3pPr lvl="2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3pPr>
            <a:lvl4pPr lvl="3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4pPr>
            <a:lvl5pPr lvl="4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5pPr>
            <a:lvl6pPr lvl="5" algn="l" defTabSz="9144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6pPr>
            <a:lvl7pPr lvl="6" algn="l" defTabSz="9144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7pPr>
          </a:lstStyle>
          <a:p>
            <a:pPr marL="228600" indent="-228600" algn="l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864000" lvl="1" indent="-3240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1296000" lvl="2" indent="-2880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1728000" lvl="3" indent="-2160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2160000" lvl="4" indent="-2160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2592000" lvl="5" indent="-216000" algn="l" defTabSz="9144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3024000" lvl="6" indent="-216000" algn="l" defTabSz="9144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  <a:lvl2pPr lvl="1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2pPr>
            <a:lvl3pPr lvl="2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3pPr>
            <a:lvl4pPr lvl="3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4pPr>
            <a:lvl5pPr lvl="4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5pPr>
          </a:lstStyle>
          <a:p>
            <a:pPr marL="228600" indent="-228600" algn="l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685800" lvl="1" indent="-2286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1143000" lvl="2" indent="-2286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1600200" lvl="3" indent="-2286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2057400" lvl="4" indent="-2286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130BE0-6DA8-4BD5-B53C-833364E50E4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  <a:lvl2pPr lvl="1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2pPr>
            <a:lvl3pPr lvl="2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3pPr>
            <a:lvl4pPr lvl="3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4pPr>
            <a:lvl5pPr lvl="4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5pPr>
          </a:lstStyle>
          <a:p>
            <a:pPr marL="228600" indent="-228600" algn="l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685800" lvl="1" indent="-2286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1143000" lvl="2" indent="-2286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1600200" lvl="3" indent="-2286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2057400" lvl="4" indent="-2286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01C74E-2CEC-44B3-A1A9-E6002D83071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/>
          <p:cNvSpPr/>
          <p:nvPr/>
        </p:nvSpPr>
        <p:spPr>
          <a:xfrm>
            <a:off x="558360" y="0"/>
            <a:ext cx="11167200" cy="2018520"/>
          </a:xfrm>
          <a:prstGeom prst="rect">
            <a:avLst/>
          </a:prstGeom>
          <a:ln w="9525">
            <a:solidFill>
              <a:srgbClr val="262626">
                <a:lumMod val="10000"/>
                <a:lumOff val="90000"/>
              </a:srgbClr>
            </a:solidFill>
          </a:ln>
          <a:effectLst>
            <a:outerShdw algn="tl" blurRad="50760" dir="2700000" dist="37674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 useBgFill="1">
        <p:nvSpPr>
          <p:cNvPr id="20" name="Rectangle 9"/>
          <p:cNvSpPr/>
          <p:nvPr/>
        </p:nvSpPr>
        <p:spPr>
          <a:xfrm>
            <a:off x="567000" y="0"/>
            <a:ext cx="11155320" cy="2011320"/>
          </a:xfrm>
          <a:prstGeom prst="rect">
            <a:avLst/>
          </a:pr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Rectangle 11"/>
          <p:cNvSpPr/>
          <p:nvPr/>
        </p:nvSpPr>
        <p:spPr>
          <a:xfrm>
            <a:off x="498960" y="787320"/>
            <a:ext cx="127800" cy="70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840" cy="117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n-US" sz="40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1115640" y="2477880"/>
            <a:ext cx="10167840" cy="369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  <a:lvl2pPr lvl="1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2pPr>
            <a:lvl3pPr lvl="2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3pPr>
            <a:lvl4pPr lvl="3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4pPr>
            <a:lvl5pPr lvl="4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5pPr>
          </a:lstStyle>
          <a:p>
            <a:pPr marL="228600" indent="-228600" algn="l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685800" lvl="1" indent="-2286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1143000" lvl="2" indent="-2286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1600200" lvl="3" indent="-2286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2057400" lvl="4" indent="-2286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0"/>
          </p:nvPr>
        </p:nvSpPr>
        <p:spPr>
          <a:xfrm>
            <a:off x="111564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2"/>
          </p:nvPr>
        </p:nvSpPr>
        <p:spPr>
          <a:xfrm>
            <a:off x="854064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A2171F-18CD-413F-8C1E-D5E43F9F357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7"/>
          <p:cNvSpPr/>
          <p:nvPr/>
        </p:nvSpPr>
        <p:spPr>
          <a:xfrm>
            <a:off x="558360" y="4981320"/>
            <a:ext cx="11134440" cy="822600"/>
          </a:xfrm>
          <a:prstGeom prst="rect">
            <a:avLst/>
          </a:prstGeom>
          <a:ln>
            <a:solidFill>
              <a:srgbClr val="262626">
                <a:lumMod val="10000"/>
                <a:lumOff val="90000"/>
              </a:srgbClr>
            </a:solidFill>
          </a:ln>
          <a:effectLst>
            <a:outerShdw algn="tl" blurRad="50760" dir="2700000" dist="37674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Rectangle 9"/>
          <p:cNvSpPr/>
          <p:nvPr/>
        </p:nvSpPr>
        <p:spPr>
          <a:xfrm>
            <a:off x="498960" y="5118480"/>
            <a:ext cx="145800" cy="548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57640" y="640080"/>
            <a:ext cx="1089000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n-US" sz="66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66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title style</a:t>
            </a:r>
            <a:endParaRPr lang="en-US" sz="66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41320" y="5102280"/>
            <a:ext cx="10606680" cy="585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0719AB-1CA8-4DDD-98BA-124A47185D7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8"/>
          <p:cNvSpPr/>
          <p:nvPr/>
        </p:nvSpPr>
        <p:spPr>
          <a:xfrm>
            <a:off x="558360" y="0"/>
            <a:ext cx="11167200" cy="2018520"/>
          </a:xfrm>
          <a:prstGeom prst="rect">
            <a:avLst/>
          </a:prstGeom>
          <a:ln w="9525">
            <a:solidFill>
              <a:srgbClr val="262626">
                <a:lumMod val="10000"/>
                <a:lumOff val="90000"/>
              </a:srgbClr>
            </a:solidFill>
          </a:ln>
          <a:effectLst>
            <a:outerShdw algn="tl" blurRad="50760" dir="2700000" dist="37674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 useBgFill="1">
        <p:nvSpPr>
          <p:cNvPr id="35" name="Rectangle 10"/>
          <p:cNvSpPr/>
          <p:nvPr/>
        </p:nvSpPr>
        <p:spPr>
          <a:xfrm>
            <a:off x="567000" y="0"/>
            <a:ext cx="11155320" cy="2011320"/>
          </a:xfrm>
          <a:prstGeom prst="rect">
            <a:avLst/>
          </a:pr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Rectangle 12"/>
          <p:cNvSpPr/>
          <p:nvPr/>
        </p:nvSpPr>
        <p:spPr>
          <a:xfrm>
            <a:off x="498960" y="787320"/>
            <a:ext cx="127800" cy="70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840" cy="117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n-US" sz="40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1115640" y="2477880"/>
            <a:ext cx="4937400" cy="369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  <a:lvl2pPr lvl="1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2pPr>
            <a:lvl3pPr lvl="2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3pPr>
            <a:lvl4pPr lvl="3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4pPr>
            <a:lvl5pPr lvl="4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5pPr>
          </a:lstStyle>
          <a:p>
            <a:pPr marL="228600" indent="-228600" algn="l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685800" lvl="1" indent="-2286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1143000" lvl="2" indent="-2286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1600200" lvl="3" indent="-2286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2057400" lvl="4" indent="-2286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6346080" y="2477880"/>
            <a:ext cx="4937400" cy="369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  <a:lvl2pPr lvl="1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2pPr>
            <a:lvl3pPr lvl="2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3pPr>
            <a:lvl4pPr lvl="3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4pPr>
            <a:lvl5pPr lvl="4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5pPr>
          </a:lstStyle>
          <a:p>
            <a:pPr marL="228600" indent="-228600" algn="l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685800" lvl="1" indent="-2286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1143000" lvl="2" indent="-2286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1600200" lvl="3" indent="-2286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2057400" lvl="4" indent="-2286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dt" idx="16"/>
          </p:nvPr>
        </p:nvSpPr>
        <p:spPr>
          <a:xfrm>
            <a:off x="111564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sldNum" idx="18"/>
          </p:nvPr>
        </p:nvSpPr>
        <p:spPr>
          <a:xfrm>
            <a:off x="854064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C0CC92-E6F3-4BDE-B335-61CEC5874CD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10"/>
          <p:cNvSpPr/>
          <p:nvPr/>
        </p:nvSpPr>
        <p:spPr>
          <a:xfrm>
            <a:off x="558360" y="0"/>
            <a:ext cx="11167200" cy="2018520"/>
          </a:xfrm>
          <a:prstGeom prst="rect">
            <a:avLst/>
          </a:prstGeom>
          <a:ln w="9525">
            <a:solidFill>
              <a:srgbClr val="262626">
                <a:lumMod val="10000"/>
                <a:lumOff val="90000"/>
              </a:srgbClr>
            </a:solidFill>
          </a:ln>
          <a:effectLst>
            <a:outerShdw algn="tl" blurRad="50760" dir="2700000" dist="37674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 useBgFill="1">
        <p:nvSpPr>
          <p:cNvPr id="44" name="Rectangle 12"/>
          <p:cNvSpPr/>
          <p:nvPr/>
        </p:nvSpPr>
        <p:spPr>
          <a:xfrm>
            <a:off x="567000" y="0"/>
            <a:ext cx="11155320" cy="2011320"/>
          </a:xfrm>
          <a:prstGeom prst="rect">
            <a:avLst/>
          </a:pr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Rectangle 14"/>
          <p:cNvSpPr/>
          <p:nvPr/>
        </p:nvSpPr>
        <p:spPr>
          <a:xfrm>
            <a:off x="498960" y="787320"/>
            <a:ext cx="127800" cy="70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840" cy="117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n-US" sz="40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1115640" y="2372760"/>
            <a:ext cx="493740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1115640" y="3203640"/>
            <a:ext cx="4937400" cy="296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  <a:lvl2pPr lvl="1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2pPr>
            <a:lvl3pPr lvl="2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3pPr>
            <a:lvl4pPr lvl="3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4pPr>
            <a:lvl5pPr lvl="4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5pPr>
          </a:lstStyle>
          <a:p>
            <a:pPr marL="228600" indent="-228600" algn="l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685800" lvl="1" indent="-2286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1143000" lvl="2" indent="-2286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1600200" lvl="3" indent="-2286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2057400" lvl="4" indent="-2286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body"/>
          </p:nvPr>
        </p:nvSpPr>
        <p:spPr>
          <a:xfrm>
            <a:off x="6346080" y="2372760"/>
            <a:ext cx="493740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6346080" y="3203640"/>
            <a:ext cx="4937400" cy="296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  <a:lvl2pPr lvl="1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2pPr>
            <a:lvl3pPr lvl="2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3pPr>
            <a:lvl4pPr lvl="3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4pPr>
            <a:lvl5pPr lvl="4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5pPr>
          </a:lstStyle>
          <a:p>
            <a:pPr marL="228600" indent="-228600" algn="l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685800" lvl="1" indent="-2286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1143000" lvl="2" indent="-2286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1600200" lvl="3" indent="-2286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2057400" lvl="4" indent="-2286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dt" idx="19"/>
          </p:nvPr>
        </p:nvSpPr>
        <p:spPr>
          <a:xfrm>
            <a:off x="111564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8"/>
          <p:cNvSpPr>
            <a:spLocks noGrp="1"/>
          </p:cNvSpPr>
          <p:nvPr>
            <p:ph type="sldNum" idx="21"/>
          </p:nvPr>
        </p:nvSpPr>
        <p:spPr>
          <a:xfrm>
            <a:off x="854064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96F329-3814-49B8-A9E9-81045DEBE07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6"/>
          <p:cNvSpPr/>
          <p:nvPr/>
        </p:nvSpPr>
        <p:spPr>
          <a:xfrm>
            <a:off x="666000" y="1533600"/>
            <a:ext cx="10916640" cy="3790440"/>
          </a:xfrm>
          <a:prstGeom prst="rect">
            <a:avLst/>
          </a:prstGeom>
          <a:ln>
            <a:solidFill>
              <a:srgbClr val="262626">
                <a:lumMod val="10000"/>
                <a:lumOff val="90000"/>
              </a:srgbClr>
            </a:solidFill>
          </a:ln>
          <a:effectLst>
            <a:outerShdw algn="tl" blurRad="50760" dir="2700000" dist="37674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Rectangle 8"/>
          <p:cNvSpPr/>
          <p:nvPr/>
        </p:nvSpPr>
        <p:spPr>
          <a:xfrm>
            <a:off x="609120" y="2971800"/>
            <a:ext cx="127800" cy="914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078920" y="1938600"/>
            <a:ext cx="10176840" cy="298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en-US" sz="54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5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title style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E6A434-F3EC-4BE7-8819-F3B8A7E635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A25E66-647A-4E7B-AE65-3328B3359E5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8"/>
          <p:cNvSpPr/>
          <p:nvPr/>
        </p:nvSpPr>
        <p:spPr>
          <a:xfrm>
            <a:off x="558360" y="1162080"/>
            <a:ext cx="3740400" cy="4642920"/>
          </a:xfrm>
          <a:prstGeom prst="rect">
            <a:avLst/>
          </a:prstGeom>
          <a:ln>
            <a:solidFill>
              <a:srgbClr val="262626">
                <a:lumMod val="10000"/>
                <a:lumOff val="90000"/>
              </a:srgbClr>
            </a:solidFill>
          </a:ln>
          <a:effectLst>
            <a:outerShdw algn="tl" blurRad="50760" dir="2700000" dist="37674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Rectangle 10"/>
          <p:cNvSpPr/>
          <p:nvPr/>
        </p:nvSpPr>
        <p:spPr>
          <a:xfrm>
            <a:off x="498960" y="1618200"/>
            <a:ext cx="145800" cy="822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68680" y="1710000"/>
            <a:ext cx="3099600" cy="170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100000"/>
              </a:lnSpc>
              <a:buNone/>
              <a:defRPr lang="en-US" sz="34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title style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965120" y="1710000"/>
            <a:ext cx="6729480" cy="409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  <a:lvl2pPr lvl="1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2pPr>
            <a:lvl3pPr lvl="2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3pPr>
            <a:lvl4pPr lvl="3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4pPr>
            <a:lvl5pPr lvl="4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5pPr>
          </a:lstStyle>
          <a:p>
            <a:pPr marL="228600" indent="-228600" algn="l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685800" lvl="1" indent="-2286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1143000" lvl="2" indent="-2286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1600200" lvl="3" indent="-2286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2057400" lvl="4" indent="-2286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868680" y="3429000"/>
            <a:ext cx="3099600" cy="2066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dt" idx="28"/>
          </p:nvPr>
        </p:nvSpPr>
        <p:spPr>
          <a:xfrm>
            <a:off x="8686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66233B-B192-4424-B8C0-F0B071A8E1B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8"/>
          <p:cNvSpPr/>
          <p:nvPr/>
        </p:nvSpPr>
        <p:spPr>
          <a:xfrm>
            <a:off x="558360" y="1162080"/>
            <a:ext cx="3740400" cy="4642920"/>
          </a:xfrm>
          <a:prstGeom prst="rect">
            <a:avLst/>
          </a:prstGeom>
          <a:ln>
            <a:solidFill>
              <a:srgbClr val="262626">
                <a:lumMod val="10000"/>
                <a:lumOff val="90000"/>
              </a:srgbClr>
            </a:solidFill>
          </a:ln>
          <a:effectLst>
            <a:outerShdw algn="tl" blurRad="50760" dir="2700000" dist="37674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 10"/>
          <p:cNvSpPr/>
          <p:nvPr/>
        </p:nvSpPr>
        <p:spPr>
          <a:xfrm>
            <a:off x="498960" y="1618200"/>
            <a:ext cx="145800" cy="822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868680" y="1710000"/>
            <a:ext cx="3099600" cy="170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100000"/>
              </a:lnSpc>
              <a:buNone/>
              <a:defRPr lang="en-US" sz="34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title style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965120" y="1161360"/>
            <a:ext cx="6729480" cy="4644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  <a:lvl2pPr lvl="1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2pPr>
            <a:lvl3pPr lvl="2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3pPr>
            <a:lvl4pPr lvl="3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4pPr>
            <a:lvl5pPr lvl="4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5pPr>
            <a:lvl6pPr lvl="5" algn="l" defTabSz="9144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6pPr>
            <a:lvl7pPr lvl="6" algn="l" defTabSz="9144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7pPr>
          </a:lstStyle>
          <a:p>
            <a:pPr algn="l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457200" lvl="1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914400" lvl="2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1371600" lvl="3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1828800" lvl="4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2286000" lvl="5" algn="l" defTabSz="9144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2743200" lvl="6" algn="l" defTabSz="9144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868680" y="3438000"/>
            <a:ext cx="3099600" cy="205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venir Next LT Pro"/>
              </a:defRPr>
            </a:lvl1pPr>
          </a:lstStyle>
          <a:p>
            <a:pPr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dt" idx="31"/>
          </p:nvPr>
        </p:nvSpPr>
        <p:spPr>
          <a:xfrm>
            <a:off x="8686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E52CE0-A7BF-456D-B7CE-14F33A89EFF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venir Next LT Pro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76000" y="1124640"/>
            <a:ext cx="11036520" cy="3172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80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NLP Final</a:t>
            </a:r>
            <a:endParaRPr lang="en-US" sz="80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ubTitle"/>
          </p:nvPr>
        </p:nvSpPr>
        <p:spPr>
          <a:xfrm>
            <a:off x="576000" y="4727520"/>
            <a:ext cx="11036520" cy="1481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Chris Protheroe, Tyler Burzenski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840" cy="117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Medical RAG QA System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1115640" y="2477880"/>
            <a:ext cx="10167840" cy="369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28600" indent="-228600" algn="l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Topic: 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infectious-disease medical question answering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228600" indent="-228600" algn="l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Corpus: PubMed abstracts via NCBI/PubMed API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228600" indent="-228600" algn="l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Goal: compare open-source LLMs in a medical RAG setting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6115784-E531-4227-AD3E-05977EEEF83B}" type="slidenum">
              <a:t>2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0ECE3016-BAB9-4597-BCD9-BF7AF077B6C8}" type="datetime1">
              <a:rPr lang="en-US"/>
              <a:t>05/01/2026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840" cy="117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Why This Project Matters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1115640" y="2477880"/>
            <a:ext cx="10167840" cy="369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228600" indent="-228600" algn="l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Medical hallucinations are high risk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228600" indent="-228600" algn="l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The RAG system grounds answers in the retrieved PubMed evidence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228600" indent="-228600" algn="l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Open source models are more accessible in low resource areas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228600" indent="-228600" algn="l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Objective: Compare hallucinations, relevance, and context use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1EEF18C-8A92-4A07-AB40-1D9C0B04C5C5}" type="slidenum">
              <a:t>3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EC770B3F-5703-4B31-A11F-BB7801B10243}" type="datetime1">
              <a:rPr lang="en-US"/>
              <a:t>05/01/2026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840" cy="117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The RAG Pipeline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1115640" y="2477880"/>
            <a:ext cx="10167840" cy="369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marL="228600" indent="-228600" algn="l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Fetch PubMed abstracts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228600" indent="-228600" algn="l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Preprocess and chunk documents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228600" indent="-228600" algn="l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Embed chunks with sentence-transformers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228600" indent="-228600" algn="l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Store vectors in ChromaDB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228600" indent="-228600" algn="l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Retrieve top-k relevant chunks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228600" indent="-228600" algn="l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Send context + question to each LLM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228600" indent="-228600" algn="l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Record and evaluate responses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EDFCFFC-EA46-47FD-AA86-4081E6A8691B}" type="slidenum">
              <a:t>4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A1884863-E2C5-47F5-B594-D7702595D155}" type="datetime1">
              <a:rPr lang="en-US"/>
              <a:t>05/01/2026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840" cy="117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Models &amp; Evaluation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1115640" y="2477880"/>
            <a:ext cx="10167840" cy="369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marL="228600" indent="-228600" algn="l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Models: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685800" lvl="1" indent="-2286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Llama-3-8B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685800" lvl="1" indent="-2286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Mistral-7B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685800" lvl="1" indent="-2286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Phi-3-mini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228600" indent="-228600" algn="l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Evaluated on the same 10 questions on: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685800" lvl="1" indent="-2286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Consistency with retrieved chunks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685800" lvl="1" indent="-2286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Relevance to the question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685800" lvl="1" indent="-2286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Correct use of context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  <a:p>
            <a:pPr marL="685800" lvl="1" indent="-228600" algn="l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venir Next LT Pro"/>
                <a:ea typeface="Avenir Next LT Pro"/>
              </a:rPr>
              <a:t>Hallucination rate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65C03C7-2B32-4E8A-AE11-D2343B057C2E}" type="slidenum">
              <a:t>5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099B6198-2466-4019-8AEA-FC14828E29C1}" type="datetime1">
              <a:rPr lang="en-US"/>
              <a:t>05/01/2026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840" cy="117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Findings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graphicFrame>
        <p:nvGraphicFramePr>
          <p:cNvPr id="90" name=""/>
          <p:cNvGraphicFramePr/>
          <p:nvPr/>
        </p:nvGraphicFramePr>
        <p:xfrm>
          <a:off x="685800" y="3200400"/>
          <a:ext cx="10972800" cy="2971800"/>
        </p:xfrm>
        <a:graphic>
          <a:graphicData uri="http://schemas.openxmlformats.org/drawingml/2006/table">
            <a:tbl>
              <a:tblPr/>
              <a:tblGrid>
                <a:gridCol w="1567080"/>
                <a:gridCol w="1567080"/>
                <a:gridCol w="1567080"/>
                <a:gridCol w="1567080"/>
                <a:gridCol w="1567080"/>
                <a:gridCol w="1567080"/>
                <a:gridCol w="1570320"/>
              </a:tblGrid>
              <a:tr h="74268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Model</a:t>
                      </a:r>
                      <a:endParaRPr lang="en-US" sz="18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Average Faithfulness</a:t>
                      </a:r>
                      <a:endParaRPr lang="en-US" sz="18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(RAGAS)</a:t>
                      </a:r>
                      <a:endParaRPr lang="en-US" sz="18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Average Answer Relevancy (RAGAS)</a:t>
                      </a:r>
                      <a:endParaRPr lang="en-US" sz="18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AVGF * AVGR</a:t>
                      </a:r>
                      <a:endParaRPr lang="en-US" sz="18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Average Tyler Ranking</a:t>
                      </a:r>
                      <a:endParaRPr lang="en-US" sz="18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1&gt;2&gt;3</a:t>
                      </a:r>
                      <a:endParaRPr lang="en-US" sz="18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Average Chris Ranking</a:t>
                      </a:r>
                      <a:endParaRPr lang="en-US" sz="18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1&gt;2&gt;3</a:t>
                      </a:r>
                      <a:endParaRPr lang="en-US" sz="18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Total Scores</a:t>
                      </a:r>
                      <a:endParaRPr lang="en-US" sz="18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(RAGAS * HF)</a:t>
                      </a:r>
                      <a:endParaRPr lang="en-US" sz="18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268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Llama-3.1-8B</a:t>
                      </a:r>
                      <a:endParaRPr lang="en-US" sz="18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0.878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0.804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0.706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0.477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268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Mistral-7B</a:t>
                      </a:r>
                      <a:endParaRPr lang="en-US" sz="18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0.822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0.865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0.711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2.3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2.4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0.231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376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Phi-3-mini</a:t>
                      </a:r>
                      <a:endParaRPr lang="en-US" sz="18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0.879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0.667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0.586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1.9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2.1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0.293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1" name=""/>
          <p:cNvSpPr txBox="1"/>
          <p:nvPr/>
        </p:nvSpPr>
        <p:spPr>
          <a:xfrm>
            <a:off x="685800" y="2057400"/>
            <a:ext cx="10972800" cy="1170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All models were evaluated on the same 10 infectious-disease questions using the same retrieved PubMed contexts.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Mistral-7B had the highest answer relevancy and slightly highest RAGAS F×R score.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Phi-3-mini had the highest faithfulness, narrowly ahead of Llama.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Llama-3.1-8B had the best human rankings and highest combined score, making it the strongest overall model in this evaluation.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899F3CD-49DE-461D-A1A8-BDB0536B9E70}" type="slidenum">
              <a:t>6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9A5C7188-44FE-43B7-8C04-4C0896669796}" type="datetime1">
              <a:rPr lang="en-US"/>
              <a:t>05/01/2026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840" cy="117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Findings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457200" y="2057400"/>
            <a:ext cx="3200400" cy="411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Llama-3.1-8B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Most balanced model overall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Strongest human preference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Often used list-style responses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Best total combined score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4343400" y="2057400"/>
            <a:ext cx="3200400" cy="411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Mistral-7B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Best answer relevancy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Gave short and concise answers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Strongest RAGAS scores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Often the “middle choice” during human review, either not having strong enough style or strong enough information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8458200" y="2057400"/>
            <a:ext cx="3200400" cy="411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Phi-3-mini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Best faithfulness score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Gave longer, more cautious answers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Lower relevancy score, as it often over-emphasised insufficient context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most descriptive model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48D4DC1-0080-46CA-936B-A8D443CECE73}" type="slidenum">
              <a:t>7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B8AA9043-709E-4E4F-8FF3-F2CE1823EF98}" type="datetime1">
              <a:rPr lang="en-US"/>
              <a:t>05/01/2026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840" cy="117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Findings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457200" y="2057400"/>
            <a:ext cx="3200400" cy="411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Llama-3.1-8B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Most balanced model overall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Strongest human preference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Often used list-style responses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Best total combined score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4343400" y="2057400"/>
            <a:ext cx="3200400" cy="411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Mistral-7B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Best answer relevancy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Gave short and concise answers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Strongest RAGAS scores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Often the “middle choice” during human review, either not having strong enough style or strong enough information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8458200" y="2057400"/>
            <a:ext cx="3200400" cy="411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Phi-3-mini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Best faithfulness score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Gave longer, more cautious answers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Lower relevancy score, as it often over-emphasised insufficient context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most descriptive model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A82E909-2872-4C19-A3E4-7810B33A8F94}" type="slidenum">
              <a:t>8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370BCD5E-8DD7-4D5C-8516-EB9C4207157F}" type="datetime1">
              <a:rPr lang="en-US"/>
              <a:t>05/01/2026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840" cy="117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Avenir Next LT Pro"/>
              </a:rPr>
              <a:t>Limitations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Avenir Next LT Pro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457200" y="2057400"/>
            <a:ext cx="11201400" cy="411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 medical professionals involved in the research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Small human feedback sample size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Only three models tested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PubMed abstracts may be insufficient depending on the question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77B809A-0E1E-4420-BCBA-C069BC007A2E}" type="slidenum">
              <a:t>9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72544AC6-F75C-4355-A0BD-D6BC10CD2D6B}" type="datetime1">
              <a:rPr lang="en-US"/>
              <a:t>05/01/2026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AccentBoxVTI">
  <a:themeElements>
    <a:clrScheme name="AccentBoxVTI">
      <a:dk1>
        <a:srgbClr val="000000"/>
      </a:dk1>
      <a:lt1>
        <a:srgbClr val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ccentBoxVTI">
      <a:majorFont>
        <a:latin typeface="Avenir Next LT Pro" pitchFamily="0" charset="1"/>
        <a:ea typeface=""/>
        <a:cs typeface=""/>
      </a:majorFont>
      <a:minorFont>
        <a:latin typeface="Avenir Next LT Pro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</TotalTime>
  <Application>LibreOffice/26.2.2.2$Linux_X86_64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2026-04-24T19:09:29Z</dcterms:created>
  <dc:creator/>
  <dc:description/>
  <dc:language>en-US</dc:language>
  <cp:lastModifiedBy/>
  <dcterms:modified xsi:type="dcterms:W3CDTF">2026-05-01T18:09:04Z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8c3cc9c-d660-41a9-8502-9ce659b5a1a4_ActionId">
    <vt:lpwstr>c0b78b61-2c52-4017-98d6-6cf11bc18da6</vt:lpwstr>
  </property>
  <property fmtid="{D5CDD505-2E9C-101B-9397-08002B2CF9AE}" pid="3" name="MSIP_Label_88c3cc9c-d660-41a9-8502-9ce659b5a1a4_ContentBits">
    <vt:lpwstr>0</vt:lpwstr>
  </property>
  <property fmtid="{D5CDD505-2E9C-101B-9397-08002B2CF9AE}" pid="4" name="MSIP_Label_88c3cc9c-d660-41a9-8502-9ce659b5a1a4_Enabled">
    <vt:lpwstr>true</vt:lpwstr>
  </property>
  <property fmtid="{D5CDD505-2E9C-101B-9397-08002B2CF9AE}" pid="5" name="MSIP_Label_88c3cc9c-d660-41a9-8502-9ce659b5a1a4_Method">
    <vt:lpwstr>Standard</vt:lpwstr>
  </property>
  <property fmtid="{D5CDD505-2E9C-101B-9397-08002B2CF9AE}" pid="6" name="MSIP_Label_88c3cc9c-d660-41a9-8502-9ce659b5a1a4_Name">
    <vt:lpwstr>defa4170-0d19-0005-0004-bc88714345d2</vt:lpwstr>
  </property>
  <property fmtid="{D5CDD505-2E9C-101B-9397-08002B2CF9AE}" pid="7" name="MSIP_Label_88c3cc9c-d660-41a9-8502-9ce659b5a1a4_SetDate">
    <vt:lpwstr>2026-04-24T19:09:40Z</vt:lpwstr>
  </property>
  <property fmtid="{D5CDD505-2E9C-101B-9397-08002B2CF9AE}" pid="8" name="MSIP_Label_88c3cc9c-d660-41a9-8502-9ce659b5a1a4_SiteId">
    <vt:lpwstr>3c71cbab-b5ed-4f3b-ac0d-95509d6c0e93</vt:lpwstr>
  </property>
  <property fmtid="{D5CDD505-2E9C-101B-9397-08002B2CF9AE}" pid="9" name="MSIP_Label_88c3cc9c-d660-41a9-8502-9ce659b5a1a4_Tag">
    <vt:lpwstr>10, 3, 0, 2</vt:lpwstr>
  </property>
  <property fmtid="{D5CDD505-2E9C-101B-9397-08002B2CF9AE}" pid="10" name="PresentationFormat">
    <vt:lpwstr>Widescreen</vt:lpwstr>
  </property>
  <property fmtid="{D5CDD505-2E9C-101B-9397-08002B2CF9AE}" pid="11" name="Slides">
    <vt:i4>6</vt:i4>
  </property>
</Properties>
</file>